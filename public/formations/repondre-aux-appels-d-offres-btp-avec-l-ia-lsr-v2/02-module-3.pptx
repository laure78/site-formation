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D4E3FC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Rédaction du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Mémoire Technique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page blanche au mémoire gagnant avec Claude 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Adapté aux marchés revêtements, carrelage &amp; parquet — LSR depuis 1975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4315968"/>
            <a:ext cx="2011680" cy="347472"/>
          </a:xfrm>
          <a:prstGeom prst="roundRect">
            <a:avLst>
              <a:gd name="adj" fmla="val 18421"/>
            </a:avLst>
          </a:prstGeom>
          <a:solidFill>
            <a:srgbClr val="1E4FC2"/>
          </a:solidFill>
          <a:ln w="12700">
            <a:solidFill>
              <a:srgbClr val="4A80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4315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⏱ 60 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4315968"/>
            <a:ext cx="2011680" cy="347472"/>
          </a:xfrm>
          <a:prstGeom prst="roundRect">
            <a:avLst>
              <a:gd name="adj" fmla="val 18421"/>
            </a:avLst>
          </a:prstGeom>
          <a:solidFill>
            <a:srgbClr val="1E4FC2"/>
          </a:solidFill>
          <a:ln w="12700">
            <a:solidFill>
              <a:srgbClr val="4A80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4315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🤖 Claude 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4315968"/>
            <a:ext cx="2011680" cy="347472"/>
          </a:xfrm>
          <a:prstGeom prst="roundRect">
            <a:avLst>
              <a:gd name="adj" fmla="val 18421"/>
            </a:avLst>
          </a:prstGeom>
          <a:solidFill>
            <a:srgbClr val="1E4FC2"/>
          </a:solidFill>
          <a:ln w="12700">
            <a:solidFill>
              <a:srgbClr val="4A80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4315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📁 Données réelles LSR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" y="5321808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E3FC"/>
            </a:solidFill>
            <a:prstDash val="solid"/>
          </a:ln>
        </p:spPr>
      </p:sp>
      <p:pic>
        <p:nvPicPr>
          <p:cNvPr id="14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5358384"/>
            <a:ext cx="1024128" cy="102412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5623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| Qualiopi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58000" y="5577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Laure OLIVIÉ | 06 95 66 18 18</a:t>
            </a:r>
            <a:endParaRPr lang="en-US" sz="85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contact@laureolivie.fr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914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Formation IA &amp; BTP  •  Qualiopi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D4E3FC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108960" y="1143000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1E4FC2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108960" y="11430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AVANT DE COMMENCER — 5 min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1664208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Créer votre Assistant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Mémoire Technique LSR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57200" y="34930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assistant formé aux 50 ans d'expertise LSR — carrelage, parquet, revêtements sols &amp; murs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977640"/>
            <a:ext cx="7863840" cy="1024128"/>
          </a:xfrm>
          <a:prstGeom prst="roundRect">
            <a:avLst>
              <a:gd name="adj" fmla="val 7143"/>
            </a:avLst>
          </a:prstGeom>
          <a:solidFill>
            <a:srgbClr val="2563C4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3977640"/>
            <a:ext cx="54864" cy="1024128"/>
          </a:xfrm>
          <a:prstGeom prst="rect">
            <a:avLst/>
          </a:prstGeom>
          <a:solidFill>
            <a:srgbClr val="D4E3FC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023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Pourquoi créer l'assistant EN PREMIER ?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" y="437083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Tous les prompts du module s'appuient sur cet assistant. Il connaît déjà LSR, ses qualifications et ses marchés prestige → résultats 3× plus précis dès le premier prompt.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4672" y="5120640"/>
            <a:ext cx="2377440" cy="658368"/>
          </a:xfrm>
          <a:prstGeom prst="roundRect">
            <a:avLst>
              <a:gd name="adj" fmla="val 9722"/>
            </a:avLst>
          </a:prstGeom>
          <a:solidFill>
            <a:srgbClr val="1E4FC2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96112" y="5193792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377CF3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51937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99032" y="5120640"/>
            <a:ext cx="1719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Créer le projet Claude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438144" y="5120640"/>
            <a:ext cx="2377440" cy="658368"/>
          </a:xfrm>
          <a:prstGeom prst="roundRect">
            <a:avLst>
              <a:gd name="adj" fmla="val 9722"/>
            </a:avLst>
          </a:prstGeom>
          <a:solidFill>
            <a:srgbClr val="1E4FC2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29584" y="5193792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377CF3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29584" y="51937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032504" y="5120640"/>
            <a:ext cx="1719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Coller le System Prompt LSR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071616" y="5120640"/>
            <a:ext cx="2377440" cy="658368"/>
          </a:xfrm>
          <a:prstGeom prst="roundRect">
            <a:avLst>
              <a:gd name="adj" fmla="val 9722"/>
            </a:avLst>
          </a:prstGeom>
          <a:solidFill>
            <a:srgbClr val="1E4FC2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63056" y="5193792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377CF3"/>
          </a:solidFill>
          <a:ln w="12700">
            <a:solidFill>
              <a:srgbClr val="D4E3F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63056" y="51937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665976" y="5120640"/>
            <a:ext cx="1719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Tester → c'est parti !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0" y="6309360"/>
            <a:ext cx="9144000" cy="274320"/>
          </a:xfrm>
          <a:prstGeom prst="rect">
            <a:avLst/>
          </a:prstGeom>
          <a:solidFill>
            <a:srgbClr val="1E4FC2"/>
          </a:solidFill>
          <a:ln w="12700">
            <a:solidFill>
              <a:srgbClr val="1E4FC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TUTO — Étapes 1 &amp; 2 : Créer le projet + System Prompt LSR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83680" y="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min • claude.ai → Projets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201168" y="1051560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ÉTAPE 1 — Créer le projet sur Claude AI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1168" y="1490472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F4F6F9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16733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673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808" y="149047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Aller sur claude.ai → cliquer « Projets »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01168" y="2386584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256946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2569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9808" y="2386584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Nommer : « Assistant Mémoire Technique LSR »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01168" y="3282696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F4F6F9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346557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9808" y="3282696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Instructions du projet » → coller le System Prompt ci-contre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01168" y="4178808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4320" y="436168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361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49808" y="417880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Uploader : plaquette LSR, qualifications Qualibat, fiches chantiers de référence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01168" y="5074920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F4F6F9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4320" y="525780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5257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⑤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49808" y="507492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Sauvegarder → actif pour tous les prompts du module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0" y="1051560"/>
            <a:ext cx="4361688" cy="36576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81728" y="1051560"/>
            <a:ext cx="4133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ÉTAPE 2 — System Prompt LSR (à coller dans le projet)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572000" y="1490472"/>
            <a:ext cx="54864" cy="5047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26864" y="1490472"/>
            <a:ext cx="4306824" cy="5047488"/>
          </a:xfrm>
          <a:prstGeom prst="roundRect">
            <a:avLst>
              <a:gd name="adj" fmla="val 1274"/>
            </a:avLst>
          </a:prstGeom>
          <a:solidFill>
            <a:srgbClr val="1A1A2E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36592" y="1572768"/>
            <a:ext cx="409651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es l'assistant Mémoire Technique de LSR.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IDENTITÉ LSR 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Spécialiste revêtements depuis 1975.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Carrelage, faïence, mosaïque, parquet,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sols PVC et caoutchouc.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Qualification Qualibat 6312.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Bureau d'études interne. 1000 m² dépôt.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Compagnons spécialisés. Chargé d'affaires dédié.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MARCHÉS DE RÉFÉRENCE LSR 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Hôtellerie 4★ et 5★, immeubles de bureaux,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bâtiments publics (ERP, hôpitaux, piscines),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logements en accession, monuments historiques.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ATOUTS DIFFÉRENCIANTS 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Partenaires Bouygues, Vinci, Eiffage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Membres bureau Chambre Syndicale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Carrelage-Marbre-Mosaïque FFB (2018)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Recommandés par tous les industriels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 secteur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 RÔLE 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Rédiger des mémoires techniques gagnants.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Vocabulaire : DTU 52.1 (carrelage),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DTU 53.12 (parquet), colle, primaire,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chape, époxy, joints, calepinage.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Structurer : 6 chapitres alignés sur RC.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 jamais inventer : utiliser [ ] si manquant.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 : professionnel, sobre, factuel, B2B AO.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TUTO — Étape 3 : Tester l'assistant avec le premier prompt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83680" y="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Mise en route immédiate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201168" y="1051560"/>
            <a:ext cx="8741664" cy="365760"/>
          </a:xfrm>
          <a:prstGeom prst="roundRect">
            <a:avLst>
              <a:gd name="adj" fmla="val 15000"/>
            </a:avLst>
          </a:prstGeom>
          <a:solidFill>
            <a:srgbClr val="2D9D4E"/>
          </a:solidFill>
          <a:ln w="12700">
            <a:solidFill>
              <a:srgbClr val="2D9D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Premier prompt de test — Taper directement dans votre projet Claude LSR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01168" y="1490472"/>
            <a:ext cx="54864" cy="2240280"/>
          </a:xfrm>
          <a:prstGeom prst="rect">
            <a:avLst/>
          </a:prstGeom>
          <a:solidFill>
            <a:srgbClr val="2D9D4E"/>
          </a:solidFill>
          <a:ln w="12700">
            <a:solidFill>
              <a:srgbClr val="2D9D4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6032" y="1490472"/>
            <a:ext cx="8686800" cy="2240280"/>
          </a:xfrm>
          <a:prstGeom prst="roundRect">
            <a:avLst>
              <a:gd name="adj" fmla="val 2449"/>
            </a:avLst>
          </a:prstGeom>
          <a:solidFill>
            <a:srgbClr val="1A1A2E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1572768"/>
            <a:ext cx="8430768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Rédige le chapitre 1 (Présentation LSR) de notre mémoire technique pour un AO [TYPE DE MARCHÉ].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 données complémentaires 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Fondée en 1975 — 50 ans d'expertise revêtements sols et murs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Effectif : [X] salariés dont [X] compagnons terrain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Qualification Qualibat 6312 | Bureau d'études interne | 1 000 m² de dépôt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Assurance RC Pro : [Assureur] | Décennale : [Assureur] valide jusqu'au [DATE]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- 3 références similaires (&lt; 5 ans) 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[Client hôtel 5★] | Carrelage + parquet [Xm²] | [Montant]€ | [Année]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[Client ERP] | Revêtements sols PVC hôpital site occupé | [Montant]€ | [Année]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[Client monument historique] | Carrelage + mosaïque | [Montant]€ | [Année]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Longueur : 2 pages. Valoriser les 50 ans d'expertise et les références prestige.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01168" y="38221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règles d'or pour un assistant LSR performant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1168" y="4224528"/>
            <a:ext cx="4279392" cy="1005840"/>
          </a:xfrm>
          <a:prstGeom prst="roundRect">
            <a:avLst>
              <a:gd name="adj" fmla="val 6364"/>
            </a:avLst>
          </a:prstGeom>
          <a:solidFill>
            <a:srgbClr val="F4F6F9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2608" y="444398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" y="44439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📁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32688" y="4297680"/>
            <a:ext cx="3438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Uploadez vos vrais documents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32688" y="4681728"/>
            <a:ext cx="34381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Plaquette LSR, fiches chantiers référence → l'IA cite les bonnes données directement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4663440" y="4224528"/>
            <a:ext cx="4279392" cy="1005840"/>
          </a:xfrm>
          <a:prstGeom prst="roundRect">
            <a:avLst>
              <a:gd name="adj" fmla="val 6364"/>
            </a:avLst>
          </a:prstGeom>
          <a:solidFill>
            <a:srgbClr val="F4F6F9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0" y="444398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44439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🔁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94960" y="4297680"/>
            <a:ext cx="3438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Itérez chapitre par chapitre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394960" y="4681728"/>
            <a:ext cx="34381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Générez chap. 1, corrigez, puis chap. 2 — ne demandez pas tout en une fois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201168" y="5340096"/>
            <a:ext cx="4279392" cy="1005840"/>
          </a:xfrm>
          <a:prstGeom prst="roundRect">
            <a:avLst>
              <a:gd name="adj" fmla="val 6364"/>
            </a:avLst>
          </a:prstGeom>
          <a:solidFill>
            <a:srgbClr val="F4F6F9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92608" y="555955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55595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✏️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32688" y="5413248"/>
            <a:ext cx="3438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Remplissez les [ ] avant d'envoyer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32688" y="5797296"/>
            <a:ext cx="34381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Données réelles = résultat 3× plus précis et différenciant vs les concurrents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4663440" y="5340096"/>
            <a:ext cx="4279392" cy="1005840"/>
          </a:xfrm>
          <a:prstGeom prst="roundRect">
            <a:avLst>
              <a:gd name="adj" fmla="val 6364"/>
            </a:avLst>
          </a:prstGeom>
          <a:solidFill>
            <a:srgbClr val="F4F6F9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54880" y="555955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55595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🔍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394960" y="5413248"/>
            <a:ext cx="3438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Terminez par l'audit (Prompt 13)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394960" y="5797296"/>
            <a:ext cx="34381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L'IA simule la commission et détecte ce que vous ne voyez plus après relecture</a:t>
            </a:r>
            <a:endParaRPr lang="en-US" sz="980" dirty="0"/>
          </a:p>
        </p:txBody>
      </p:sp>
      <p:sp>
        <p:nvSpPr>
          <p:cNvPr id="32" name="Shape 2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 3 — Objectifs &amp; déroulé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83680" y="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60 min | Claude AI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À l'issue de ce module, vous saurez 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1600200"/>
            <a:ext cx="8595360" cy="749808"/>
          </a:xfrm>
          <a:prstGeom prst="roundRect">
            <a:avLst>
              <a:gd name="adj" fmla="val 8537"/>
            </a:avLst>
          </a:prstGeom>
          <a:solidFill>
            <a:srgbClr val="F4F6F9"/>
          </a:solidFill>
          <a:ln w="12700">
            <a:solidFill>
              <a:srgbClr val="E0E8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72821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728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1655064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Structurer un mémoire technique adapté aux critères de notation du RC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74320" y="2496312"/>
            <a:ext cx="8595360" cy="749808"/>
          </a:xfrm>
          <a:prstGeom prst="roundRect">
            <a:avLst>
              <a:gd name="adj" fmla="val 8537"/>
            </a:avLst>
          </a:prstGeom>
          <a:solidFill>
            <a:srgbClr val="F4F6F9"/>
          </a:solidFill>
          <a:ln w="12700">
            <a:solidFill>
              <a:srgbClr val="E0E8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262432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60120" y="2551176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Générer le plan personnalisé avec les 6 chapitres pondérés (Prompt 09)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274320" y="3392424"/>
            <a:ext cx="8595360" cy="749808"/>
          </a:xfrm>
          <a:prstGeom prst="roundRect">
            <a:avLst>
              <a:gd name="adj" fmla="val 8537"/>
            </a:avLst>
          </a:prstGeom>
          <a:solidFill>
            <a:srgbClr val="F4F6F9"/>
          </a:solidFill>
          <a:ln w="12700">
            <a:solidFill>
              <a:srgbClr val="E0E8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3520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0120" y="3447288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Rédiger chaque chapitre avec votre assistant LSR en moins de 20 min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274320" y="4288536"/>
            <a:ext cx="8595360" cy="749808"/>
          </a:xfrm>
          <a:prstGeom prst="roundRect">
            <a:avLst>
              <a:gd name="adj" fmla="val 8537"/>
            </a:avLst>
          </a:prstGeom>
          <a:solidFill>
            <a:srgbClr val="F4F6F9"/>
          </a:solidFill>
          <a:ln w="12700">
            <a:solidFill>
              <a:srgbClr val="E0E8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" y="441655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0120" y="4343400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Auditer votre mémoire comme le ferait une commission (Prompt 13)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274320" y="5184648"/>
            <a:ext cx="8595360" cy="749808"/>
          </a:xfrm>
          <a:prstGeom prst="roundRect">
            <a:avLst>
              <a:gd name="adj" fmla="val 8537"/>
            </a:avLst>
          </a:prstGeom>
          <a:solidFill>
            <a:srgbClr val="F4F6F9"/>
          </a:solidFill>
          <a:ln w="12700">
            <a:solidFill>
              <a:srgbClr val="E0E8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5760" y="531266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5312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60120" y="523951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Valoriser les 50 ans d'expertise LSR : hôtellerie 5★, monuments historiques, partenaires majors BTP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Structure type d'un mémoire gagnant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83680" y="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Adapté aux critères RC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1051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chapitres — La structure attendue par les acheteurs BTP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8600" y="1481328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" y="1490472"/>
            <a:ext cx="4279392" cy="438912"/>
          </a:xfrm>
          <a:prstGeom prst="roundRect">
            <a:avLst>
              <a:gd name="adj" fmla="val 14583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1752" y="149047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 Présentation de l'entreprise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0" y="1554480"/>
            <a:ext cx="621792" cy="274320"/>
          </a:xfrm>
          <a:prstGeom prst="roundRect">
            <a:avLst>
              <a:gd name="adj" fmla="val 13333"/>
            </a:avLst>
          </a:prstGeom>
          <a:solidFill>
            <a:srgbClr val="1E4F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0" y="155448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2-3 p.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8328" y="1975104"/>
            <a:ext cx="40782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 ans d'expertise, Qualibat 6312, références hôtellerie 5★/ERP, moyens humains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09160" y="1481328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18304" y="1490472"/>
            <a:ext cx="4279392" cy="438912"/>
          </a:xfrm>
          <a:prstGeom prst="roundRect">
            <a:avLst>
              <a:gd name="adj" fmla="val 14583"/>
            </a:avLst>
          </a:prstGeom>
          <a:solidFill>
            <a:srgbClr val="1E6BC2"/>
          </a:solidFill>
          <a:ln w="12700">
            <a:solidFill>
              <a:srgbClr val="1E6BC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82312" y="149047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 Compréhension du projet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321040" y="1554480"/>
            <a:ext cx="621792" cy="274320"/>
          </a:xfrm>
          <a:prstGeom prst="roundRect">
            <a:avLst>
              <a:gd name="adj" fmla="val 13333"/>
            </a:avLst>
          </a:prstGeom>
          <a:solidFill>
            <a:srgbClr val="1E4F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155448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1-2 p.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18888" y="1975104"/>
            <a:ext cx="40782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Enjeux, contraintes CCTP, questions MO — souvent négligé, très décisif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28600" y="3054096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37744" y="3063240"/>
            <a:ext cx="4279392" cy="438912"/>
          </a:xfrm>
          <a:prstGeom prst="roundRect">
            <a:avLst>
              <a:gd name="adj" fmla="val 14583"/>
            </a:avLst>
          </a:prstGeom>
          <a:solidFill>
            <a:srgbClr val="0A56B0"/>
          </a:solidFill>
          <a:ln w="12700">
            <a:solidFill>
              <a:srgbClr val="0A56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" y="306324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 Méthodologie &amp; organisation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840480" y="3127248"/>
            <a:ext cx="621792" cy="274320"/>
          </a:xfrm>
          <a:prstGeom prst="roundRect">
            <a:avLst>
              <a:gd name="adj" fmla="val 13333"/>
            </a:avLst>
          </a:prstGeom>
          <a:solidFill>
            <a:srgbClr val="1E4F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0" y="3127248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3-4 p.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38328" y="3547872"/>
            <a:ext cx="40782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Phasage, site occupé, chargé d'affaires dédié, coordination inter-corps d'état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709160" y="3054096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18304" y="3063240"/>
            <a:ext cx="4279392" cy="438912"/>
          </a:xfrm>
          <a:prstGeom prst="roundRect">
            <a:avLst>
              <a:gd name="adj" fmla="val 14583"/>
            </a:avLst>
          </a:prstGeom>
          <a:solidFill>
            <a:srgbClr val="1E4FC2"/>
          </a:solidFill>
          <a:ln w="12700">
            <a:solidFill>
              <a:srgbClr val="1E4FC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82312" y="306324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 Délais &amp; planning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321040" y="3127248"/>
            <a:ext cx="621792" cy="274320"/>
          </a:xfrm>
          <a:prstGeom prst="roundRect">
            <a:avLst>
              <a:gd name="adj" fmla="val 13333"/>
            </a:avLst>
          </a:prstGeom>
          <a:solidFill>
            <a:srgbClr val="1E4F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21040" y="3127248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1-2 p.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818888" y="3547872"/>
            <a:ext cx="40782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Rétro-planning, jalons, marges de sécurité, engagement écrit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28600" y="4626864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37744" y="4636008"/>
            <a:ext cx="4279392" cy="438912"/>
          </a:xfrm>
          <a:prstGeom prst="roundRect">
            <a:avLst>
              <a:gd name="adj" fmla="val 1458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01752" y="4636008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 Qualité &amp; RSE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840480" y="4700016"/>
            <a:ext cx="621792" cy="274320"/>
          </a:xfrm>
          <a:prstGeom prst="roundRect">
            <a:avLst>
              <a:gd name="adj" fmla="val 13333"/>
            </a:avLst>
          </a:prstGeom>
          <a:solidFill>
            <a:srgbClr val="1E4F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840480" y="4700016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p.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38328" y="5120640"/>
            <a:ext cx="40782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Qualibat 6312, bureau d'études interne, procédures qualité chantier LSR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709160" y="4626864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18304" y="4636008"/>
            <a:ext cx="4279392" cy="438912"/>
          </a:xfrm>
          <a:prstGeom prst="roundRect">
            <a:avLst>
              <a:gd name="adj" fmla="val 14583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82312" y="4636008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 Conclusion différenciante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321040" y="4700016"/>
            <a:ext cx="621792" cy="274320"/>
          </a:xfrm>
          <a:prstGeom prst="roundRect">
            <a:avLst>
              <a:gd name="adj" fmla="val 13333"/>
            </a:avLst>
          </a:prstGeom>
          <a:solidFill>
            <a:srgbClr val="1E4F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321040" y="4700016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p.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818888" y="5120640"/>
            <a:ext cx="40782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 ans + hôtels 5★ + partenaires Bouygues/Vinci/Eiffage + nomination FFB 2018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N°09 — Plan personnalisé aligné RC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83680" y="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 3 | Dans votre projet Claude LSR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498080" y="105156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0" y="1051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 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" y="1463040"/>
            <a:ext cx="54864" cy="452628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4904" y="1463040"/>
            <a:ext cx="5166360" cy="4526280"/>
          </a:xfrm>
          <a:prstGeom prst="roundRect">
            <a:avLst>
              <a:gd name="adj" fmla="val 1212"/>
            </a:avLst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536192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es un expert en réponse aux appels d'offres BTP.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Génère un plan de mémoire technique pour LSR.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DONNÉES RC :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Critères de notation : [COLLER RÉSULTATS PROMPT 01]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Pondération valeur technique : [X]%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Exigences CCTP revêtements/carrelage : [DÉCRIRE]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Type de marché : [hôtellerie / ERP / bureaux / logement]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CONTEXTE LSR :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- 50 ans d'expertise revêtements sols et murs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Références prestige : hôtellerie 5★, monuments historiques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Partenaires : Bouygues, Vinci, Eiffage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GÉNÈRE :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Plan 6 chapitres + nb pages suggéré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Pour chaque chapitre : contenu + argument différenciant LSR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Les 3 chapitres les plus décisifs pour notre note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: tableau structuré prêt à servir de sommaire.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60720" y="1463040"/>
            <a:ext cx="3200400" cy="1572768"/>
          </a:xfrm>
          <a:prstGeom prst="roundRect">
            <a:avLst>
              <a:gd name="adj" fmla="val 4070"/>
            </a:avLst>
          </a:prstGeom>
          <a:solidFill>
            <a:srgbClr val="EEF4FF"/>
          </a:solidFill>
          <a:ln w="12700">
            <a:solidFill>
              <a:srgbClr val="C0D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15361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9D4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 Plan sur-mesure LSR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897880" y="1883664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Aligné sur la pondération RC. L'assistant sait déjà que LSR travaille en hôtellerie 5★ et monuments historiques → arguments intégrés automatiquement.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60720" y="3154680"/>
            <a:ext cx="3200400" cy="1664208"/>
          </a:xfrm>
          <a:prstGeom prst="roundRect">
            <a:avLst>
              <a:gd name="adj" fmla="val 3846"/>
            </a:avLst>
          </a:prstGeom>
          <a:solidFill>
            <a:srgbClr val="FFF8E7"/>
          </a:solidFill>
          <a:ln w="12700">
            <a:solidFill>
              <a:srgbClr val="FFD0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32278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20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💡 Conseil LSR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897880" y="3575304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Pour un marché ERP ou hôtellerie : mettre en avant le chargé d'affaires dédié (chap. 3) et les références prestige similaires (chap. 1). La nomination FFB 2018 est un argument de conclusion fort.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760720" y="4937760"/>
            <a:ext cx="3200400" cy="1069848"/>
          </a:xfrm>
          <a:prstGeom prst="roundRect">
            <a:avLst>
              <a:gd name="adj" fmla="val 5983"/>
            </a:avLst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97880" y="50109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9D4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⚡ Résultat en 2 min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897880" y="5358384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complet avec niveaux de détail par chapitre selon pondération RC — vocabulaire carrelage/parquet intégré.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N°10 — Présentation LSR + Compréhension projet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83680" y="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Chapitres 1 &amp; 2 | Claude AI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498080" y="105156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0" y="1051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 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" y="1463040"/>
            <a:ext cx="54864" cy="452628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4904" y="1463040"/>
            <a:ext cx="5166360" cy="4526280"/>
          </a:xfrm>
          <a:prstGeom prst="roundRect">
            <a:avLst>
              <a:gd name="adj" fmla="val 1212"/>
            </a:avLst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536192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2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Rédige les chapitres 1 et 2 du mémoire technique de LSR.</a:t>
            </a: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2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CHAPITRE 1 — Présentation LSR :</a:t>
            </a: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2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Fondée en 1975 — 50 ans expertise revêtements</a:t>
            </a: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2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Effectif : [X] salariés dont [X] compagnons</a:t>
            </a: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2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Qualification Qualibat 6312</a:t>
            </a: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2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Bureau d'études interne — 1 000 m² dépôt</a:t>
            </a: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2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Chargé d'affaires dédié à chaque projet</a:t>
            </a: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2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Assurances RC Pro + Décennale : [montants]</a:t>
            </a: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2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- 3 références similaires (&lt; 5 ans) :</a:t>
            </a: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2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[Client hôtellerie 5★ | Travaux | Montant | Année]</a:t>
            </a: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2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[ERP bâtiment public | Travaux | Montant | Année]</a:t>
            </a: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2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[Monument historique | Travaux | Montant | Année]</a:t>
            </a: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2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CHAPITRE 2 — Compréhension du projet :</a:t>
            </a: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2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Enjeux identifiés dans le CCTP : [LISTER]</a:t>
            </a: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2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Contraintes spécifiques relevées : [LISTER]</a:t>
            </a: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2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Questions adressées au MO : [LISTER]</a:t>
            </a: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2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 : professionnel, sobre, factuel</a:t>
            </a:r>
            <a:endParaRPr lang="en-US" sz="92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2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LONGUEUR : chap.1 = 2 pages | chap.2 = 1.5 pages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5760720" y="1463040"/>
            <a:ext cx="3200400" cy="1389888"/>
          </a:xfrm>
          <a:prstGeom prst="roundRect">
            <a:avLst>
              <a:gd name="adj" fmla="val 4605"/>
            </a:avLst>
          </a:prstGeom>
          <a:solidFill>
            <a:srgbClr val="EEF4FF"/>
          </a:solidFill>
          <a:ln w="12700">
            <a:solidFill>
              <a:srgbClr val="C0D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15361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9D4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 Chapitres 1 &amp; 2 en 10 min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97880" y="1901952"/>
            <a:ext cx="29260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L'assistant connaît déjà les 50 ans LSR, la Qualibat 6312 et les marchés prestige → rédaction directement ciblée.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60720" y="2971800"/>
            <a:ext cx="3200400" cy="2240280"/>
          </a:xfrm>
          <a:prstGeom prst="roundRect">
            <a:avLst>
              <a:gd name="adj" fmla="val 2857"/>
            </a:avLst>
          </a:prstGeom>
          <a:solidFill>
            <a:srgbClr val="FFF8E7"/>
          </a:solidFill>
          <a:ln w="12700">
            <a:solidFill>
              <a:srgbClr val="FFD0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30449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20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🏆 Atouts LSR à valoriser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97880" y="3429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50 ans d'expertise (depuis 1975)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97880" y="37216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Références hôtellerie 4★ et 5★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97880" y="40142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Chantiers monuments historiques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97880" y="43068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Bureau d'études interne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97880" y="45994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Nomination bureau FFB 2018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97880" y="4892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Partenaires Bouygues, Vinci, Eiffage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760720" y="5321808"/>
            <a:ext cx="3200400" cy="658368"/>
          </a:xfrm>
          <a:prstGeom prst="roundRect">
            <a:avLst>
              <a:gd name="adj" fmla="val 9722"/>
            </a:avLst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97880" y="532180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💡 Le chap. 2 est souvent négligé — il peut faire la différence sur la note technique.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N°11 — Méthodologie et organisation chantier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83680" y="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chapitre le plus décisif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498080" y="105156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0" y="1051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 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" y="1463040"/>
            <a:ext cx="54864" cy="452628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4904" y="1463040"/>
            <a:ext cx="5166360" cy="4526280"/>
          </a:xfrm>
          <a:prstGeom prst="roundRect">
            <a:avLst>
              <a:gd name="adj" fmla="val 1212"/>
            </a:avLst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536192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Rédige le chapitre 3 — Organisation et méthodologie.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CONTEXTE LSR :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Type de marché : [hôtellerie / ERP / bureaux / logement]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Site occupé : [oui / non / partiellement]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Contraintes : [bruit, accès, horaires, protection des biens]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 MOYENS LSR :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Chargé d'affaires dédié au projet (suivi quotidien)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Chef de chantier : [expérience, certifications]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Équipe : [X] compagnons spécialisés carrelage/parquet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Bureau d'études interne : plans, calepinage, métrés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Matériel : [liste adapté au type de revêtement]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NOTRE APPROCHE :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Phasage : [X phases] adapté à [contrainte principale]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Coordination inter-corps d'état : [méthode]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Réunions chantier : [fréquence, participants]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Gestion interfaces carrelage/parquet/finitions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INCLURE : tableau de phasage + organigramme équipe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LONGUEUR : 3-4 pages | STYLE : technique et rassurant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60720" y="1463040"/>
            <a:ext cx="3200400" cy="1371600"/>
          </a:xfrm>
          <a:prstGeom prst="roundRect">
            <a:avLst>
              <a:gd name="adj" fmla="val 4667"/>
            </a:avLst>
          </a:prstGeom>
          <a:solidFill>
            <a:srgbClr val="F4F6F9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16276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9D4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 min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760720" y="2286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 lieu de 3-5 jours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60720" y="2971800"/>
            <a:ext cx="3200400" cy="1371600"/>
          </a:xfrm>
          <a:prstGeom prst="roundRect">
            <a:avLst>
              <a:gd name="adj" fmla="val 4667"/>
            </a:avLst>
          </a:prstGeom>
          <a:solidFill>
            <a:srgbClr val="F4F6F9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313639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Chap. 3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760720" y="3794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plus décisif RC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760720" y="4480560"/>
            <a:ext cx="3200400" cy="1371600"/>
          </a:xfrm>
          <a:prstGeom prst="roundRect">
            <a:avLst>
              <a:gd name="adj" fmla="val 4667"/>
            </a:avLst>
          </a:prstGeom>
          <a:solidFill>
            <a:srgbClr val="F4F6F9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46451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720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+15 pts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5760720" y="5303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Gain moyen audit IA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N°12 — Qualité RSE + Conclusion différenciante LSR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83680" y="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Chapitres 5 &amp;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498080" y="105156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0" y="1051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 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" y="1463040"/>
            <a:ext cx="54864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4904" y="1463040"/>
            <a:ext cx="5166360" cy="4526280"/>
          </a:xfrm>
          <a:prstGeom prst="roundRect">
            <a:avLst>
              <a:gd name="adj" fmla="val 1212"/>
            </a:avLst>
          </a:prstGeom>
          <a:solidFill>
            <a:srgbClr val="1A1A2E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536192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Rédige les chapitres 5 (Qualité/RSE) et 6 (Conclusion) pour LSR.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CHAPITRE 5 — Démarche qualité / RSE LSR 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Qualification Qualibat 6312 (revêtements de sol/mur)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Bureau d'études interne : plans, calepinage, métrés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Procédures qualité : fiches de contrôle, réception des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supports, validation coloris/jointement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Pratiques env. : gestion déchets chantier, éco-matériaux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Compagnons spécialisés en formation continue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CHAPITRE 6 — Conclusion différenciante LSR 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 3 atouts vs la concurrence 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50 ans d'expertise + références prestige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(hôtels 5★, monuments historiques,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partenaires Bouygues, Vinci, Eiffage)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Chargé d'affaires dédié + bureau d'études interne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Reconnaissance FFB — membre bureau Chambre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Syndicale Carrelage-Marbre-Mosaïque (2018)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Recommandés par tous les industriels du secteur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Engagement direction : [NOM] — [SIGNATURE]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Disponibilité pour présentation orale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 : affirmatif, engageant, mémorable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LONGUEUR : chap.5 = 1 p. | chap.6 = 1 p.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1463040"/>
            <a:ext cx="3200400" cy="1417320"/>
          </a:xfrm>
          <a:prstGeom prst="roundRect">
            <a:avLst>
              <a:gd name="adj" fmla="val 4516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15361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 Conclusion percutante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97880" y="190195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nomination FFB 2018 + partenariats Bouygues/Vinci/Eiffage = arguments très différenciants vs concurrents sans ce réseau.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60720" y="2999232"/>
            <a:ext cx="3200400" cy="2971800"/>
          </a:xfrm>
          <a:prstGeom prst="roundRect">
            <a:avLst>
              <a:gd name="adj" fmla="val 2154"/>
            </a:avLst>
          </a:prstGeom>
          <a:solidFill>
            <a:srgbClr val="FFF8E7"/>
          </a:solidFill>
          <a:ln w="12700">
            <a:solidFill>
              <a:srgbClr val="FFD0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30723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20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🏆 3 atouts uniques LSR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70448" y="349300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70448" y="3493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17920" y="349300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 ans &amp; références prestige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17920" y="374904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Hôtels 5★, monuments historiques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70448" y="431596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70448" y="4315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17920" y="43159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Chargé d'affaires + bureau études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217920" y="457200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Suivi dédié, plans, calepinage interne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870448" y="513892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70448" y="5138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217920" y="513892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Réseau &amp; reconnaissance FFB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217920" y="539496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Nomination 2018, partenaires majors BTP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4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ATELIER — Rédiger le chapitre 3 en 20 min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0" y="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Exercice LSR | Prompt N°11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10515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Contexte : réfection revêtements carrelage/parquet dans un hôtel 4★ en activité (180 chambres)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74320" y="1417320"/>
            <a:ext cx="5577840" cy="3310128"/>
          </a:xfrm>
          <a:prstGeom prst="roundRect">
            <a:avLst>
              <a:gd name="adj" fmla="val 2210"/>
            </a:avLst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1417320"/>
            <a:ext cx="54864" cy="3310128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4813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N°11 — À compléter avec vos données réelles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1801368"/>
            <a:ext cx="5303520" cy="2862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Rédige le chapitre 3 — Organisation et méthodologie.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Contexte : réfection carrelage + parquet hôtel 4★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activité (180 chambres) — site occupé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Contraintes : travaux 22h-6h, couloirs actifs,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protection mobilier, bruit limité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 moyens LSR : chargé d'affaires dédié,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chef de chantier 15 ans hôtellerie,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[X] compagnons spécialisés, bureau d'études interne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Notre approche : phasage aile par aile,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coordination direction hôtel, réunions bi-hebdo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texte doit : démontrer la maîtrise des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contraintes hôtellerie — 2 pages max + tableau phasage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89320" y="1417320"/>
            <a:ext cx="2944368" cy="1627632"/>
          </a:xfrm>
          <a:prstGeom prst="roundRect">
            <a:avLst>
              <a:gd name="adj" fmla="val 4494"/>
            </a:avLst>
          </a:prstGeom>
          <a:solidFill>
            <a:srgbClr val="FFF0F0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14904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❌ AVANT l'IA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26480" y="1874520"/>
            <a:ext cx="265176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à 5 jours de rédaction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Résultat peu différenciant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Trop générique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89320" y="3154680"/>
            <a:ext cx="2944368" cy="1572768"/>
          </a:xfrm>
          <a:prstGeom prst="roundRect">
            <a:avLst>
              <a:gd name="adj" fmla="val 4651"/>
            </a:avLst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3227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9D4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 AVEC l'assistant LSR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26480" y="361188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 minutes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Texte hôtellerie ciblé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Vocabulaire LSR intégré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Adapté critères RC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4828032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FF8E7"/>
          </a:solidFill>
          <a:ln w="12700">
            <a:solidFill>
              <a:srgbClr val="FFD0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8280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⏱ 20 min — Personnalisez les [ ] avec les données LSR → Puis Prompt 13 (audit) pour noter votre mémoire avant dépôt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4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 PRATIQUE COMPLET — Mémoire LSR en 60 min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0" y="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Live | Prompts 09 → 13 enchaînés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20040" y="10515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Exercice fil rouge : répondre à un AO revêtements de A à Z avec l'assistant LSR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01168" y="1417320"/>
            <a:ext cx="1572768" cy="23317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377C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" y="15087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74320" y="2121408"/>
            <a:ext cx="14264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Coller le RC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" y="2596896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09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 Plan 6 chap.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" y="3273552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" y="3273552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min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773936" y="2212848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975104" y="1417320"/>
            <a:ext cx="1572768" cy="23317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377C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87168" y="15087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87168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048256" y="2121408"/>
            <a:ext cx="14264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Présentation LSR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048256" y="2596896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10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 Chap. 1 &amp; 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249424" y="3273552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49424" y="3273552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min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547872" y="2212848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749040" y="1417320"/>
            <a:ext cx="1572768" cy="23317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1E4FC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261104" y="15087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E4FC2"/>
          </a:solidFill>
          <a:ln w="12700">
            <a:solidFill>
              <a:srgbClr val="1E4FC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61104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822192" y="2121408"/>
            <a:ext cx="14264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Méthodologie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822192" y="2596896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4FC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11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4FC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 Chap. 3 clé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023360" y="3273552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1E4FC2"/>
          </a:solidFill>
          <a:ln w="12700">
            <a:solidFill>
              <a:srgbClr val="1E4FC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023360" y="3273552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 min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21808" y="2212848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522976" y="1417320"/>
            <a:ext cx="1572768" cy="23317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035040" y="15087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350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596128" y="2121408"/>
            <a:ext cx="14264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Qualité + Ccl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596128" y="2596896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12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 Chap. 5 &amp; 6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797296" y="3273552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797296" y="3273552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min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095744" y="2212848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296912" y="1417320"/>
            <a:ext cx="1572768" cy="23317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2D9D4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808976" y="15087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D9D4E"/>
          </a:solidFill>
          <a:ln w="12700">
            <a:solidFill>
              <a:srgbClr val="2D9D4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808976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370064" y="2121408"/>
            <a:ext cx="14264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Audit IA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7370064" y="2596896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9D4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13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9D4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 Note /100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571232" y="3273552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2D9D4E"/>
          </a:solidFill>
          <a:ln w="12700">
            <a:solidFill>
              <a:srgbClr val="2D9D4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571232" y="3273552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min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201168" y="3749040"/>
            <a:ext cx="5394960" cy="2249424"/>
          </a:xfrm>
          <a:prstGeom prst="roundRect">
            <a:avLst>
              <a:gd name="adj" fmla="val 3252"/>
            </a:avLst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01168" y="3749040"/>
            <a:ext cx="54864" cy="2249424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47472" y="381304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📋 SCÉNARIO LSR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347472" y="4133088"/>
            <a:ext cx="516636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Marché : Réfection revêtements carrelage + parquet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hôtel 4★ 180 chambres en site occupé — Île-de-France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 : Investisseur privé — Valeur technique 60% / Prix 40%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Contraintes : travaux nocturnes, accès restreints, bruit limité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LSR : chargé d'affaires dédié, [X] compagnons,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Qualibat 6312, 3 réf. hôtellerie &lt; 5 ans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Objectif : 6 chapitres mémoire + audit IA en 60 minutes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742432" y="3749040"/>
            <a:ext cx="3200400" cy="2249424"/>
          </a:xfrm>
          <a:prstGeom prst="roundRect">
            <a:avLst>
              <a:gd name="adj" fmla="val 3252"/>
            </a:avLst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870448" y="38221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9D4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🏆 Résultat attendu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5870448" y="424281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 Mémoire 6 chapitres complet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5870448" y="45902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 Atouts LSR 50 ans valorisés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5870448" y="4937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 Note estimée &gt; 75/100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5870448" y="52852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 0 contradiction mémoire/prix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5870448" y="56327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 60 min vs 3-5 jours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2854"/>
          </a:solidFill>
          <a:ln w="12700">
            <a:solidFill>
              <a:srgbClr val="0D28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0972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Relecture &amp; Contrôle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Qualité avant dépôt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0" y="345643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⏱ Durée estimée : 45 min — Claude 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3950208"/>
            <a:ext cx="6400800" cy="530352"/>
          </a:xfrm>
          <a:prstGeom prst="roundRect">
            <a:avLst>
              <a:gd name="adj" fmla="val 10345"/>
            </a:avLst>
          </a:prstGeom>
          <a:solidFill>
            <a:srgbClr val="102D66"/>
          </a:solidFill>
          <a:ln w="12700">
            <a:solidFill>
              <a:srgbClr val="2A5A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950208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Simulation de notation par la commission (Prompt 13)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71600" y="4572000"/>
            <a:ext cx="6400800" cy="530352"/>
          </a:xfrm>
          <a:prstGeom prst="roundRect">
            <a:avLst>
              <a:gd name="adj" fmla="val 10345"/>
            </a:avLst>
          </a:prstGeom>
          <a:solidFill>
            <a:srgbClr val="102D66"/>
          </a:solidFill>
          <a:ln w="12700">
            <a:solidFill>
              <a:srgbClr val="2A5A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4572000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Vérification cohérence mémoire / offre financière (Prompt 14)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371600" y="5193792"/>
            <a:ext cx="6400800" cy="530352"/>
          </a:xfrm>
          <a:prstGeom prst="roundRect">
            <a:avLst>
              <a:gd name="adj" fmla="val 10345"/>
            </a:avLst>
          </a:prstGeom>
          <a:solidFill>
            <a:srgbClr val="102D66"/>
          </a:solidFill>
          <a:ln w="12700">
            <a:solidFill>
              <a:srgbClr val="2A5A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5193792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Checklist complète des pièces administratives (Prompt 15)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371600" y="5815584"/>
            <a:ext cx="6400800" cy="530352"/>
          </a:xfrm>
          <a:prstGeom prst="roundRect">
            <a:avLst>
              <a:gd name="adj" fmla="val 10345"/>
            </a:avLst>
          </a:prstGeom>
          <a:solidFill>
            <a:srgbClr val="102D66"/>
          </a:solidFill>
          <a:ln w="12700">
            <a:solidFill>
              <a:srgbClr val="2A5A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5815584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Email de confirmation de dépôt (Prompt 16)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64592" y="5321808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E3FC"/>
            </a:solidFill>
            <a:prstDash val="solid"/>
          </a:ln>
        </p:spPr>
      </p:sp>
      <p:pic>
        <p:nvPicPr>
          <p:cNvPr id="15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5358384"/>
            <a:ext cx="1024128" cy="102412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71600" y="5577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| Qualiopi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PROMPT N°13 — Audit notation commission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83680" y="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 4 | Faire noter son mémoire par l'IA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498080" y="105156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0D2854"/>
          </a:solidFill>
          <a:ln w="12700">
            <a:solidFill>
              <a:srgbClr val="0D28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0" y="1051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 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" y="1463040"/>
            <a:ext cx="54864" cy="3429000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4904" y="1463040"/>
            <a:ext cx="5029200" cy="3429000"/>
          </a:xfrm>
          <a:prstGeom prst="roundRect">
            <a:avLst>
              <a:gd name="adj" fmla="val 1600"/>
            </a:avLst>
          </a:prstGeom>
          <a:solidFill>
            <a:srgbClr val="1A1A2E"/>
          </a:solidFill>
          <a:ln w="12700">
            <a:solidFill>
              <a:srgbClr val="7C32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536192"/>
            <a:ext cx="4800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es un membre d'une commission d'appel d'offres.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notes sur 100 pts selon ces critères :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[COLLER CRITÈRES DU RC]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Voici le mémoire technique de LSR :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[COLLER LE TEXTE COMPLET]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Évalue :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Note sur 100 avec détail par critère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Les 3 points les plus faibles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Suggestions d'amélioration concrètes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Passages manquant de précision technique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F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(revêtements, carrelage, parquet, DTU 52.1)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0" y="1463040"/>
            <a:ext cx="1600200" cy="169164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16459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78/100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669280" y="245059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Note moy. mémoires testés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406640" y="1463040"/>
            <a:ext cx="1600200" cy="169164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06640" y="16459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9D4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+15 pts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406640" y="245059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Gain après itérations IA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0" y="3337560"/>
            <a:ext cx="1600200" cy="169164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0" y="35204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20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min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5669280" y="432511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Temps d'audit Claude AI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406640" y="3337560"/>
            <a:ext cx="1600200" cy="169164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06640" y="35204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406640" y="432511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Pièce oubliée (si prompt 15)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74320" y="4983480"/>
            <a:ext cx="8595360" cy="685800"/>
          </a:xfrm>
          <a:prstGeom prst="roundRect">
            <a:avLst>
              <a:gd name="adj" fmla="val 9333"/>
            </a:avLst>
          </a:prstGeom>
          <a:solidFill>
            <a:srgbClr val="FFF8E7"/>
          </a:solidFill>
          <a:ln w="12700">
            <a:solidFill>
              <a:srgbClr val="FFD08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49834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💡 Astuce : Passez le prompt 14 (cohérence mémoire / offre financière) juste avant le dépôt — il détecte les contradictions que personne ne voit.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Récap — Les 8 prompts Modules 3 &amp; 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83680" y="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page blanche au dépôt final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Séquence complète en 3h — 0 pièce oubliée, +15 pts en moyenne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28600" y="1463040"/>
            <a:ext cx="42519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1728216"/>
            <a:ext cx="566928" cy="530352"/>
          </a:xfrm>
          <a:prstGeom prst="roundRect">
            <a:avLst>
              <a:gd name="adj" fmla="val 10345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728216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N°09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749040" y="1810512"/>
            <a:ext cx="621792" cy="347472"/>
          </a:xfrm>
          <a:prstGeom prst="roundRect">
            <a:avLst>
              <a:gd name="adj" fmla="val 10526"/>
            </a:avLst>
          </a:prstGeom>
          <a:solidFill>
            <a:srgbClr val="EEF4FF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1810512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M3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78408" y="1664208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personnalisé RC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63040"/>
            <a:ext cx="42519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1728216"/>
            <a:ext cx="566928" cy="530352"/>
          </a:xfrm>
          <a:prstGeom prst="roundRect">
            <a:avLst>
              <a:gd name="adj" fmla="val 10345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1728216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N°10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183880" y="1810512"/>
            <a:ext cx="621792" cy="347472"/>
          </a:xfrm>
          <a:prstGeom prst="roundRect">
            <a:avLst>
              <a:gd name="adj" fmla="val 10526"/>
            </a:avLst>
          </a:prstGeom>
          <a:solidFill>
            <a:srgbClr val="EEF4FF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83880" y="1810512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M3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413248" y="1664208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Présentation LSR + Compréhension projet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28600" y="2697480"/>
            <a:ext cx="42519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0040" y="2962656"/>
            <a:ext cx="566928" cy="530352"/>
          </a:xfrm>
          <a:prstGeom prst="roundRect">
            <a:avLst>
              <a:gd name="adj" fmla="val 10345"/>
            </a:avLst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2962656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N°11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749040" y="3044952"/>
            <a:ext cx="621792" cy="347472"/>
          </a:xfrm>
          <a:prstGeom prst="roundRect">
            <a:avLst>
              <a:gd name="adj" fmla="val 10526"/>
            </a:avLst>
          </a:prstGeom>
          <a:solidFill>
            <a:srgbClr val="EEF4FF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49040" y="3044952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M3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78408" y="2898648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Méthodologie chantier revêtements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663440" y="2697480"/>
            <a:ext cx="42519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54880" y="2962656"/>
            <a:ext cx="566928" cy="530352"/>
          </a:xfrm>
          <a:prstGeom prst="roundRect">
            <a:avLst>
              <a:gd name="adj" fmla="val 103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2962656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N°12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183880" y="3044952"/>
            <a:ext cx="621792" cy="347472"/>
          </a:xfrm>
          <a:prstGeom prst="roundRect">
            <a:avLst>
              <a:gd name="adj" fmla="val 10526"/>
            </a:avLst>
          </a:prstGeom>
          <a:solidFill>
            <a:srgbClr val="EEF4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3044952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7CF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M3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413248" y="2898648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Qualité RSE + Conclusion différenciante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28600" y="3931920"/>
            <a:ext cx="42519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0040" y="4197096"/>
            <a:ext cx="566928" cy="530352"/>
          </a:xfrm>
          <a:prstGeom prst="roundRect">
            <a:avLst>
              <a:gd name="adj" fmla="val 10345"/>
            </a:avLst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0040" y="4197096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N°13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749040" y="4279392"/>
            <a:ext cx="621792" cy="347472"/>
          </a:xfrm>
          <a:prstGeom prst="roundRect">
            <a:avLst>
              <a:gd name="adj" fmla="val 10526"/>
            </a:avLst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749040" y="4279392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M4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78408" y="4133088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Audit notation commission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663440" y="3931920"/>
            <a:ext cx="42519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54880" y="4197096"/>
            <a:ext cx="566928" cy="530352"/>
          </a:xfrm>
          <a:prstGeom prst="roundRect">
            <a:avLst>
              <a:gd name="adj" fmla="val 10345"/>
            </a:avLst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0" y="4197096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N°14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183880" y="4279392"/>
            <a:ext cx="621792" cy="347472"/>
          </a:xfrm>
          <a:prstGeom prst="roundRect">
            <a:avLst>
              <a:gd name="adj" fmla="val 10526"/>
            </a:avLst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183880" y="4279392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M4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413248" y="4133088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Cohérence mémoire / offre financière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228600" y="5166360"/>
            <a:ext cx="42519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20040" y="5431536"/>
            <a:ext cx="566928" cy="530352"/>
          </a:xfrm>
          <a:prstGeom prst="roundRect">
            <a:avLst>
              <a:gd name="adj" fmla="val 10345"/>
            </a:avLst>
          </a:prstGeom>
          <a:solidFill>
            <a:srgbClr val="2D9D4E"/>
          </a:solidFill>
          <a:ln w="12700">
            <a:solidFill>
              <a:srgbClr val="2D9D4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20040" y="5431536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N°15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749040" y="5513832"/>
            <a:ext cx="621792" cy="347472"/>
          </a:xfrm>
          <a:prstGeom prst="roundRect">
            <a:avLst>
              <a:gd name="adj" fmla="val 10526"/>
            </a:avLst>
          </a:prstGeom>
          <a:solidFill>
            <a:srgbClr val="2D9D4E"/>
          </a:solidFill>
          <a:ln w="12700">
            <a:solidFill>
              <a:srgbClr val="2D9D4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749040" y="5513832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M4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978408" y="5367528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Checklist pièces administratives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4663440" y="5166360"/>
            <a:ext cx="42519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754880" y="5431536"/>
            <a:ext cx="566928" cy="530352"/>
          </a:xfrm>
          <a:prstGeom prst="roundRect">
            <a:avLst>
              <a:gd name="adj" fmla="val 10345"/>
            </a:avLst>
          </a:prstGeom>
          <a:solidFill>
            <a:srgbClr val="2D9D4E"/>
          </a:solidFill>
          <a:ln w="12700">
            <a:solidFill>
              <a:srgbClr val="2D9D4E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754880" y="5431536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N°16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8183880" y="5513832"/>
            <a:ext cx="621792" cy="347472"/>
          </a:xfrm>
          <a:prstGeom prst="roundRect">
            <a:avLst>
              <a:gd name="adj" fmla="val 10526"/>
            </a:avLst>
          </a:prstGeom>
          <a:solidFill>
            <a:srgbClr val="2D9D4E"/>
          </a:solidFill>
          <a:ln w="12700">
            <a:solidFill>
              <a:srgbClr val="2D9D4E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183880" y="5513832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M4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5413248" y="5367528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Email de confirmation de dépôt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" y="64008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 que l'IA ne remplace pas dans les AO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83680" y="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L'IA est un copilote — vous restez l'expert terrain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274320" y="1078992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78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❌  Ce que l'IA ne peut pas faire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0" y="1078992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078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9D4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  Où l'IA excelle vraiment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4320" y="1490472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1545336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❌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1527048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visite et connaissance terrain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2020824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Textures, supports, planéité, dilatations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2496312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" y="2551176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❌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22960" y="2532888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chiffrage précis (métrés, joints, colles)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3026664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Prix matériaux, quantités réelles au m²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4320" y="3502152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3557016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❌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22960" y="3538728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lecture juridique du CCAP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2960" y="4032504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Pénalités, garanties, sous-traitance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" y="4507992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7472" y="4562856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❌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22960" y="4544568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relation avec le maître d'œuvre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22960" y="5038344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Confiance, historique commercial LSR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54880" y="1490472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28032" y="1545336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303520" y="1527048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rédaction professionnelle et structurée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303520" y="2020824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chapitres en moins de 1h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754880" y="2496312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28032" y="2551176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303520" y="2532888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Valoriser 50 ans LSR et références prestige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303520" y="3026664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Hôtels 5★, monuments, majors BTP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754880" y="3502152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28032" y="3557016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5303520" y="3538728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L'audit et le contrôle qualité avant dépôt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303520" y="4032504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Simuler la notation commission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754880" y="4507992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28032" y="4562856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5303520" y="4544568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checklist, 0 pièce oubliée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303520" y="5038344"/>
            <a:ext cx="3456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oubli, 0 élimination administrative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377CF3"/>
          </a:solidFill>
          <a:ln w="12700">
            <a:solidFill>
              <a:srgbClr val="377CF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OFC Création d'Entreprise  •  Laure OLIVIÉ  •  contact@laureolivie.fr  •  Formation Qualiopi OPCO Constructys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IA BTP — Module 3 — Mémoire Technique — LSR</dc:title>
  <dc:subject>PptxGenJS Presentation</dc:subject>
  <dc:creator>PptxGenJS</dc:creator>
  <cp:lastModifiedBy>PptxGenJS</cp:lastModifiedBy>
  <cp:revision>1</cp:revision>
  <dcterms:created xsi:type="dcterms:W3CDTF">2026-04-03T17:40:29Z</dcterms:created>
  <dcterms:modified xsi:type="dcterms:W3CDTF">2026-04-03T17:40:29Z</dcterms:modified>
</cp:coreProperties>
</file>