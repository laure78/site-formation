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5FBF"/>
          </a:solidFill>
          <a:ln w="12700">
            <a:solidFill>
              <a:srgbClr val="2D5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Aide au chiffrage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contrôle de rentabilité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0" y="2880360"/>
            <a:ext cx="3657600" cy="36576"/>
          </a:xfrm>
          <a:prstGeom prst="rect">
            <a:avLst/>
          </a:prstGeom>
          <a:solidFill>
            <a:srgbClr val="D4E3FC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15468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2D5FBF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54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Extraction CCTP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315468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2D5FBF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154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Structure BPU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315468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2D5FBF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154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Ratios IDF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75120" y="315468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2D5FBF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154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Contrôle prix/m²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Formation intra-entreprise | La Société des Revêtements LSR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0" y="4206240"/>
            <a:ext cx="4023360" cy="411480"/>
          </a:xfrm>
          <a:prstGeom prst="roundRect">
            <a:avLst>
              <a:gd name="adj" fmla="val 15556"/>
            </a:avLst>
          </a:prstGeom>
          <a:solidFill>
            <a:srgbClr val="2D5FBF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4206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⏱  Durée estimée : 45 min — Claude AI / ChatGPT Plus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80-90%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097280" y="5349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temps économisé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840480" y="5349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prompts suffisent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&lt; 2h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583680" y="5349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 CCTP au BPU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5650992"/>
            <a:ext cx="102412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E3FC"/>
            </a:solidFill>
            <a:prstDash val="solid"/>
          </a:ln>
        </p:spPr>
      </p:sp>
      <p:pic>
        <p:nvPicPr>
          <p:cNvPr id="2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5687568"/>
            <a:ext cx="950976" cy="95097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98448" y="5989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| Qualiopi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486400" y="6263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Laure OLIVIÉ | 06 95 66 18 18 | contact@laureolivie.fr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du module 4 — Chiffrage IA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675120" y="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4 / LSR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l'issue de ce module, vous serez capables de 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554480"/>
            <a:ext cx="8321040" cy="7498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554480"/>
            <a:ext cx="36576" cy="749808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5544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51560" y="155448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 Extraire automatiquement tous les ouvrages à chiffrer depuis un CCTP revêtements avec Claude AI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2441448"/>
            <a:ext cx="8321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2441448"/>
            <a:ext cx="36576" cy="749808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441448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51560" y="2441448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 Générer la structure BPU complète (N° / Désignation / Unité / Quantité) en moins de 10 minutes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3328416"/>
            <a:ext cx="8321040" cy="7498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3328416"/>
            <a:ext cx="36576" cy="749808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328416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51560" y="3328416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 Estimer les temps unitaires (ratios h/m²) pour les travaux de revêtements en Île-de-France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11480" y="4215384"/>
            <a:ext cx="8321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4215384"/>
            <a:ext cx="36576" cy="749808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4215384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51560" y="4215384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 Contrôler la cohérence prix/m² de votre offre vs le marché IDF 2024 avant dépôt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11480" y="5102352"/>
            <a:ext cx="8321040" cy="7498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5102352"/>
            <a:ext cx="36576" cy="749808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510235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51560" y="5102352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 Détecter les postes sous-estimés ou oubliés pour sécuriser vos marges sur chaque AO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Chiffrage — Le workflow IA en 4 étapes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675120" y="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4 / LSR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 CCTP au BPU prêt à remplir en moins de 2h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1463040"/>
            <a:ext cx="2011680" cy="37947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D4E3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4630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2103120"/>
            <a:ext cx="2011680" cy="18288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1069848" y="1965960"/>
            <a:ext cx="1188720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1965960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17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11480" y="23591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Extraction des ouvrages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1480" y="288036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L'IA lit le CCTP et liste tous les ouvrages par corps d'état avec unités de mesure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448056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~2 min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350008" y="30175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7CF3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487168" y="1463040"/>
            <a:ext cx="2011680" cy="37947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D4E3F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487168" y="14630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87168" y="2103120"/>
            <a:ext cx="201168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32888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3200" dirty="0"/>
          </a:p>
        </p:txBody>
      </p:sp>
      <p:sp>
        <p:nvSpPr>
          <p:cNvPr id="22" name="Shape 19"/>
          <p:cNvSpPr/>
          <p:nvPr/>
        </p:nvSpPr>
        <p:spPr>
          <a:xfrm>
            <a:off x="3236976" y="1965960"/>
            <a:ext cx="1188720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36976" y="1965960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18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578608" y="23591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Structure du BPU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578608" y="288036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Génération du tableau BPU complet : N° / Désignation / Unité / Quantité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807208" y="448056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07208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~10 min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17136" y="30175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7CF3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654296" y="1463040"/>
            <a:ext cx="2011680" cy="37947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D4E3F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54296" y="14630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54296" y="2103120"/>
            <a:ext cx="2011680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00016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200" dirty="0"/>
          </a:p>
        </p:txBody>
      </p:sp>
      <p:sp>
        <p:nvSpPr>
          <p:cNvPr id="33" name="Shape 30"/>
          <p:cNvSpPr/>
          <p:nvPr/>
        </p:nvSpPr>
        <p:spPr>
          <a:xfrm>
            <a:off x="5404104" y="1965960"/>
            <a:ext cx="1188720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04104" y="1965960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19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745736" y="23591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Estimation des temps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745736" y="288036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Ratios h/m² pour revêtements en IDF — fourchette basse/haute selon difficulté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974336" y="448056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74336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~15 min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684264" y="30175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7CF3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821424" y="1463040"/>
            <a:ext cx="2011680" cy="37947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D4E3F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821424" y="14630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821424" y="2103120"/>
            <a:ext cx="201168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67144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3200" dirty="0"/>
          </a:p>
        </p:txBody>
      </p:sp>
      <p:sp>
        <p:nvSpPr>
          <p:cNvPr id="44" name="Shape 41"/>
          <p:cNvSpPr/>
          <p:nvPr/>
        </p:nvSpPr>
        <p:spPr>
          <a:xfrm>
            <a:off x="7571232" y="1965960"/>
            <a:ext cx="1188720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571232" y="1965960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20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6912864" y="23591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Contrôle cohérence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912864" y="288036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Vérification prix/m² vs marché IDF 2024 — détection des postes atypiques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7141464" y="448056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141464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~5 min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0" y="5559552"/>
            <a:ext cx="9144000" cy="384048"/>
          </a:xfrm>
          <a:prstGeom prst="rect">
            <a:avLst/>
          </a:prstGeom>
          <a:solidFill>
            <a:srgbClr val="D4E3FC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0" y="555955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⏱  GAIN : Ce workflow IA remplace 2 à 3 jours de travail manuel par moins de 2 heures — soit un gain de 80 à 90% sur le temps de chiffrage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Avant de démarrer — Checklist de préparation LSR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675120" y="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4 / LSR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 qu'il faut avoir ouvert AVANT de lancer le workflow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146304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463040"/>
            <a:ext cx="45720" cy="16002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5544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6968" y="15361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📁  DCE complet téléchargé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9768" y="199339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CCTP + BPU/DPGF vierge depuis BOAMP, e-marchés ou la plateforme du maître d'ouvrage. Pour LSR : lots revêtements sols/murs, carrelage, résines, parquets.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146304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1463040"/>
            <a:ext cx="45720" cy="16002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00600" y="15544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276088" y="15361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💰  Vos prix unitaires revêtements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18888" y="199339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Vos tarifs habituels : main d'œuvre (taux horaire chargé LSR), fournisseurs matériaux, sous-traitants poseurs. À portée de main, pas besoin de tout saisir.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329184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0040" y="3291840"/>
            <a:ext cx="45720" cy="16002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33832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86968" y="33649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🤖  Claude AI ouvert dans le navigateur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29768" y="382219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claude.ai connecté avec votre compte Pro (18€/mois). Idéalement : charger le CCTP PDF directement dans Claude avant de lancer le Prompt 17.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09160" y="329184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09160" y="3291840"/>
            <a:ext cx="45720" cy="16002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00600" y="33832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276088" y="33649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📊  Excel vierge prêt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18888" y="382219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fichier Excel préparé pour coller le BPU généré par l'IA. Nommez l'onglet 'BPU_[NomMarché]' — vous retrouverez tout facilement.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17 — Extraction des ouvrages depuis le CCTP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675120" y="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Étape 1/4 — Module 4 / LSR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utiliser dans Claude AI avec le CCTP chargé — Adapté secteur revêtements LSR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371600"/>
            <a:ext cx="5074920" cy="4572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371600"/>
            <a:ext cx="45720" cy="45720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46304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4630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N°17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1773936"/>
            <a:ext cx="4892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es un économiste de la construction BTP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spécialisé en revêtements (sols, murs, carrelage,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résines, parquets, faïences).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 ce CCTP et extrait tous les ouvrages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à chiffrer pour l'appel d'offres LSR.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CCTP FOURNI : [COLLER LE TEXTE DU CCTP ICI]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 CHAQUE OUVRAGE IDENTIFIÉ 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N° de lot et corps d'état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(Revêtements sols / Murs / Étanchéité / Prépa.)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Désignation précise de l'ouvrage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(ex : carrelage grès émaillé 60x60 / résine époxy)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Unité de mesure (m², ml, u, forfait)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Quantité si mentionnée dans le CCTP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Niveau de difficulté : STANDARD / COMPLEXE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: tableau structuré par lot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SIGNALE les ouvrages ambigus ou incomplets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 PAS inventer de quantités.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77840" y="137160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D4E3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14447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 Résultat obtenu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69280" y="181051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 Liste complète des ouvrages par lot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0" y="213969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 Unités de mesure standardisées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69280" y="246888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 Quantités extraites si dispo dans le CCTP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69280" y="279806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 Postes ambigus signalés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69280" y="312724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 Aucun poste oublié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577840" y="3703320"/>
            <a:ext cx="3200400" cy="2240280"/>
          </a:xfrm>
          <a:prstGeom prst="roundRect">
            <a:avLst>
              <a:gd name="adj" fmla="val 3265"/>
            </a:avLst>
          </a:prstGeom>
          <a:solidFill>
            <a:srgbClr val="FFF9E6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0" y="37764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💡  Conseil LSR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0" y="4133088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Chargez d'abord le CCTP PDF directement dans Claude (glisser-déposer ou bouton trombone). L'IA lit le document entier en 30 secondes — résultat en 2 minutes sans copier-coller.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18 — Génération de la structure BPU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675120" y="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Étape 2/4 — Module 4 / LSR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Sur la base des ouvrages extraits (Prompt 17) — Format exportable Excel/Word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371600"/>
            <a:ext cx="5074920" cy="4572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371600"/>
            <a:ext cx="45720" cy="4572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46304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4630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N°18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1773936"/>
            <a:ext cx="4892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base de la liste d'ouvrages LSR (Prompt 17),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génère un BPU structuré au format tableau.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DU TABLEAU 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N° | Désignation | Unité | Quantité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 Prix Unitaire HT (à compléter) | Total HT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RÈGLES DE STRUCTURATION 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Regroupe par lot : Préparation / Sols / Murs / Étanchéité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Numérotation hiérarchique (1.1, 1.2, 2.1...)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Ligne de séparation entre chaque lot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Ligne TOTAL GÉNÉRAL en bas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Colonnes PU HT et Total HT laissées vides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(à compléter manuellement avec vos prix LSR)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AJOUTE une colonne 'Observations' pour 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Postes à variante ou options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Préparation support requise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Travaux en site occupé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: exportable Markdown → Excel.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77840" y="1371600"/>
            <a:ext cx="3200400" cy="448056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9050">
            <a:solidFill>
              <a:srgbClr val="D4E3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14447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📊  Exemple BPU Revêtements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96128" y="1847088"/>
            <a:ext cx="3163824" cy="246888"/>
          </a:xfrm>
          <a:prstGeom prst="rect">
            <a:avLst/>
          </a:prstGeom>
          <a:solidFill>
            <a:srgbClr val="377CF3"/>
          </a:solidFill>
          <a:ln w="6350">
            <a:solidFill>
              <a:srgbClr val="D4E3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14416" y="1847088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N°  Désignation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991856" y="1847088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357616" y="1847088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Qté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2093976"/>
            <a:ext cx="3163824" cy="246888"/>
          </a:xfrm>
          <a:prstGeom prst="rect">
            <a:avLst/>
          </a:prstGeom>
          <a:solidFill>
            <a:srgbClr val="D4E3FC"/>
          </a:solidFill>
          <a:ln w="6350">
            <a:solidFill>
              <a:srgbClr val="D4E3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14416" y="2093976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LOT 1 — Préparation supports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991856" y="2093976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357616" y="2093976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596128" y="2340864"/>
            <a:ext cx="316382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4E3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14416" y="2340864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1.1  Ragréage autonivelant E+C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991856" y="2340864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m²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357616" y="2340864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320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596128" y="2587752"/>
            <a:ext cx="3163824" cy="246888"/>
          </a:xfrm>
          <a:prstGeom prst="rect">
            <a:avLst/>
          </a:prstGeom>
          <a:solidFill>
            <a:srgbClr val="F4F6F9"/>
          </a:solidFill>
          <a:ln w="6350">
            <a:solidFill>
              <a:srgbClr val="D4E3F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14416" y="2587752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1.2  Primaire d'accrochage sols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991856" y="2587752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m²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357616" y="2587752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320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596128" y="2834640"/>
            <a:ext cx="3163824" cy="246888"/>
          </a:xfrm>
          <a:prstGeom prst="rect">
            <a:avLst/>
          </a:prstGeom>
          <a:solidFill>
            <a:srgbClr val="D4E3FC"/>
          </a:solidFill>
          <a:ln w="6350">
            <a:solidFill>
              <a:srgbClr val="D4E3F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14416" y="283464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LOT 2 — Revêtements sols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991856" y="2834640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8357616" y="2834640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596128" y="3081528"/>
            <a:ext cx="3163824" cy="246888"/>
          </a:xfrm>
          <a:prstGeom prst="rect">
            <a:avLst/>
          </a:prstGeom>
          <a:solidFill>
            <a:srgbClr val="F4F6F9"/>
          </a:solidFill>
          <a:ln w="6350">
            <a:solidFill>
              <a:srgbClr val="D4E3F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14416" y="3081528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2.1  Carrelage grès 60x60 salle de réunion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991856" y="3081528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m²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357616" y="3081528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85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5596128" y="3328416"/>
            <a:ext cx="316382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4E3F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14416" y="3328416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2.2  Résine époxy lissée hall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991856" y="3328416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m²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357616" y="3328416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148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596128" y="3575304"/>
            <a:ext cx="3163824" cy="246888"/>
          </a:xfrm>
          <a:prstGeom prst="rect">
            <a:avLst/>
          </a:prstGeom>
          <a:solidFill>
            <a:srgbClr val="F4F6F9"/>
          </a:solidFill>
          <a:ln w="6350">
            <a:solidFill>
              <a:srgbClr val="D4E3F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614416" y="3575304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2.3  Parquet contrecollé chêne bureaux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991856" y="3575304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m²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8357616" y="3575304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92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5596128" y="3822192"/>
            <a:ext cx="3163824" cy="246888"/>
          </a:xfrm>
          <a:prstGeom prst="rect">
            <a:avLst/>
          </a:prstGeom>
          <a:solidFill>
            <a:srgbClr val="D4E3FC"/>
          </a:solidFill>
          <a:ln w="6350">
            <a:solidFill>
              <a:srgbClr val="D4E3F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614416" y="3822192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TOTAL GÉNÉRAL HT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7991856" y="3822192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8357616" y="3822192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5623560" y="498348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💡  Astuce : demandez à Claude de générer le tableau en Markdown — copiez-le directement dans Excel.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19 — Estimation des temps unitaires revêtements IDF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675120" y="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Étape 3/4 — Module 4 / LSR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Ratios h/m² pour travaux de revêtements en Île-de-France — Fourchettes basse/haute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371600"/>
            <a:ext cx="5074920" cy="4572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371600"/>
            <a:ext cx="45720" cy="4572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46304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4630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N°19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1773936"/>
            <a:ext cx="4892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es un économiste BTP expert en revêtements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sols et murs en Île-de-France.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Estime les temps unitaires pour chaque ouvrage LSR.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 DES OUVRAGES : [COLLER RÉSULTATS PROMPT 17]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 DONNÉES LSR 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Taux horaire chargé : [X] €/h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Région : Île-de-France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Type de chantier : [réhab / neuf / entretien]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Contraintes : [site occupé / accès difficile / phasage]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 CHAQUE OUVRAGE, FOURNIS 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Ratio de base (h/m²)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Source : BATIPRIX / Recueil Décomptoir IDF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Fourchette basse (conditions favorables)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Fourchette haute (conditions complexes)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Coefficient majoration si site occupé (+15-25%)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Coût main d'œuvre estimé par poste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: tableau | PRÉCISE le niveau de confiance.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77840" y="1371600"/>
            <a:ext cx="3200400" cy="4572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9050">
            <a:solidFill>
              <a:srgbClr val="FFD6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14447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📐  Ratios revêtements IDF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96128" y="1828800"/>
            <a:ext cx="3163824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14416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Ouvrage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717536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66176" y="182880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Haut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2103120"/>
            <a:ext cx="3163824" cy="256032"/>
          </a:xfrm>
          <a:prstGeom prst="rect">
            <a:avLst/>
          </a:prstGeom>
          <a:solidFill>
            <a:srgbClr val="F4F6F9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14416" y="21031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Ragréage autonivelant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717536" y="21031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0.15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266176" y="2103120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0.25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596128" y="2359152"/>
            <a:ext cx="316382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14416" y="23591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Carrelage grès 30-60cm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717536" y="23591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0.50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266176" y="2359152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0.80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596128" y="2615184"/>
            <a:ext cx="3163824" cy="256032"/>
          </a:xfrm>
          <a:prstGeom prst="rect">
            <a:avLst/>
          </a:prstGeom>
          <a:solidFill>
            <a:srgbClr val="F4F6F9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14416" y="26151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Carrelage grès &gt; 60cm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717536" y="261518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0.65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266176" y="2615184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1.0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596128" y="2871216"/>
            <a:ext cx="316382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14416" y="28712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Résine époxy lissée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717536" y="28712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0.30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266176" y="2871216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0.50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596128" y="3127248"/>
            <a:ext cx="3163824" cy="256032"/>
          </a:xfrm>
          <a:prstGeom prst="rect">
            <a:avLst/>
          </a:prstGeom>
          <a:solidFill>
            <a:srgbClr val="F4F6F9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14416" y="31272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Parquet contrecollé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717536" y="31272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0.45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266176" y="3127248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0.70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5596128" y="3383280"/>
            <a:ext cx="316382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14416" y="33832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Faïence murale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717536" y="33832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0.60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266176" y="3383280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0.90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596128" y="3639312"/>
            <a:ext cx="3163824" cy="256032"/>
          </a:xfrm>
          <a:prstGeom prst="rect">
            <a:avLst/>
          </a:prstGeom>
          <a:solidFill>
            <a:srgbClr val="F4F6F9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614416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Plinthe carrelage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717536" y="36393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0.30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8266176" y="3639312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0.50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5596128" y="3904488"/>
            <a:ext cx="3163824" cy="36576"/>
          </a:xfrm>
          <a:prstGeom prst="rect">
            <a:avLst/>
          </a:prstGeom>
          <a:solidFill>
            <a:srgbClr val="D4E3FC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623560" y="397764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⚠️  Vérifiez toujours les ratios IA vs vos cadences terrain LSR — l'IA donne une base de travail.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5623560" y="48006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Coefficient +15 à +25%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site occupé (bureaux,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commerce en activité)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20 — Contrôle cohérence prix / marché IDF 2024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675120" y="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Étape 4/4 — Module 4 / LSR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Dernière vérification obligatoire avant dépôt de l'offre LSR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371600"/>
            <a:ext cx="5074920" cy="4572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371600"/>
            <a:ext cx="45720" cy="4572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46304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4630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N°20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1773936"/>
            <a:ext cx="4892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es un économiste auditeur BTP spécialisé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revêtements et finitions.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 la cohérence de notre BPU LSR vs les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 du marché IDF 2024.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NOTRE BPU COMPLÉTÉ : [COLLER LE TABLEAU BPU]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DE TRAVAUX : [Revêtements sols / murs / mixte]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MONTANT TOTAL HT : [MONTANT] €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 TOTALE : [m²]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VÉRIFIE 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Prix global au m² vs fourchette marché IDF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[Revêtements sols standard : 45-95 €/m²]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[Carrelage pose + fourniture : 55-110 €/m²]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[Résine époxy : 35-75 €/m²]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[Parquet contrecollé : 60-120 €/m²]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Postes anormalement bas (risque sous-éval.)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Postes anormalement élevés (non compétitif)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Postes manquants (prépa support, plinthe...)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GÉNÈRE : tableau anomalies + recommandations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si cohérent | RÉVISER si écart &gt; 20%.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77840" y="1371600"/>
            <a:ext cx="32004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9050">
            <a:solidFill>
              <a:srgbClr val="A8E6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14447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📊  Fourchettes prix/m² IDF 2024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Revêtements LSR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96128" y="2029968"/>
            <a:ext cx="3163824" cy="292608"/>
          </a:xfrm>
          <a:prstGeom prst="rect">
            <a:avLst/>
          </a:prstGeom>
          <a:solidFill>
            <a:srgbClr val="F4F6F9"/>
          </a:solidFill>
          <a:ln w="3810">
            <a:solidFill>
              <a:srgbClr val="E8EE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14416" y="202996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Préparation / ragréage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671816" y="2029968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– 22 €/m²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596128" y="2322576"/>
            <a:ext cx="3163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14416" y="232257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Carrelage grès standard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671816" y="2322576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55 – 95 €/m²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596128" y="2615184"/>
            <a:ext cx="3163824" cy="292608"/>
          </a:xfrm>
          <a:prstGeom prst="rect">
            <a:avLst/>
          </a:prstGeom>
          <a:solidFill>
            <a:srgbClr val="F4F6F9"/>
          </a:solidFill>
          <a:ln w="3810">
            <a:solidFill>
              <a:srgbClr val="E8EE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14416" y="261518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Carrelage grand format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671816" y="2615184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75 – 130 €/m²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96128" y="2907792"/>
            <a:ext cx="3163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14416" y="290779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Résine époxy sol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671816" y="2907792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35 – 75 €/m²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596128" y="3200400"/>
            <a:ext cx="3163824" cy="292608"/>
          </a:xfrm>
          <a:prstGeom prst="rect">
            <a:avLst/>
          </a:prstGeom>
          <a:solidFill>
            <a:srgbClr val="F4F6F9"/>
          </a:solidFill>
          <a:ln w="3810">
            <a:solidFill>
              <a:srgbClr val="E8EEF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14416" y="320040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Parquet contrecollé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671816" y="3200400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 – 110 €/m²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596128" y="3493008"/>
            <a:ext cx="3163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14416" y="349300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Faïence murale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671816" y="3493008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65 – 120 €/m²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596128" y="3785616"/>
            <a:ext cx="3163824" cy="292608"/>
          </a:xfrm>
          <a:prstGeom prst="rect">
            <a:avLst/>
          </a:prstGeom>
          <a:solidFill>
            <a:srgbClr val="F4F6F9"/>
          </a:solidFill>
          <a:ln w="3810">
            <a:solidFill>
              <a:srgbClr val="E8EEF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14416" y="378561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Plinthe (carrelage ml)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671816" y="3785616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 – 35 €/ml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577840" y="466344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FF0F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69280" y="47365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🚨  Règle absolue avant dépôt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669280" y="507492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prix/m² incohérent peut éliminer votre offre d'office. Tout écart &gt; 20% vs marché = révision obligatoire avant envoi.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4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Atelier pratique — Chiffrer un marché de revêtements avec l'IA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675120" y="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⚙ Exercice / Module 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Exercice : Générez un BPU à partir du CCTP LSR — Extraction + Structure BPU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4048" y="1508760"/>
            <a:ext cx="457200" cy="457200"/>
          </a:xfrm>
          <a:prstGeom prst="ellipse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" y="1965960"/>
            <a:ext cx="27432" cy="640080"/>
          </a:xfrm>
          <a:prstGeom prst="rect">
            <a:avLst/>
          </a:prstGeom>
          <a:solidFill>
            <a:srgbClr val="D4E3FC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1508760"/>
            <a:ext cx="73152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153619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Chargez le CCTP dans Claude AI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78992" y="18745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Glissez-déposez le CCTP PDF de l'AO LSR dans Claude. Vérifiez que le document est bien chargé (icône visible sous la zone de saisie).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132320" y="1581912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D4E3FC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0" y="158191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⏱  2 min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84048" y="2606040"/>
            <a:ext cx="457200" cy="457200"/>
          </a:xfrm>
          <a:prstGeom prst="ellipse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98932" y="3063240"/>
            <a:ext cx="27432" cy="640080"/>
          </a:xfrm>
          <a:prstGeom prst="rect">
            <a:avLst/>
          </a:prstGeom>
          <a:solidFill>
            <a:srgbClr val="D4E3FC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0120" y="2606040"/>
            <a:ext cx="73152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78992" y="263347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Lancez le Prompt 17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078992" y="29718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Copiez-collez le Prompt 17 (Extraction CCTP Revêtements). Attendez la liste complète des ouvrages par lot. Vérifiez qu'aucun poste n'est oublié.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132320" y="2679192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D4E3FC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0" y="267919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⏱  3 min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84048" y="3703320"/>
            <a:ext cx="457200" cy="457200"/>
          </a:xfrm>
          <a:prstGeom prst="ellipse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98932" y="4160520"/>
            <a:ext cx="27432" cy="640080"/>
          </a:xfrm>
          <a:prstGeom prst="rect">
            <a:avLst/>
          </a:prstGeom>
          <a:solidFill>
            <a:srgbClr val="D4E3FC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60120" y="3703320"/>
            <a:ext cx="73152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78992" y="37307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Lancez le Prompt 18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078992" y="4069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Demandez à Claude de générer le BPU structuré en tableau Markdown. Copiez le résultat dans Excel. Complétez vos prix unitaires réels LSR.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132320" y="3776472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D4E3FC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0" y="377647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⏱  10 min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84048" y="4800600"/>
            <a:ext cx="457200" cy="457200"/>
          </a:xfrm>
          <a:prstGeom prst="ellipse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4048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960120" y="4800600"/>
            <a:ext cx="73152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78992" y="482803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Contrôlez avec le Prompt 20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1078992" y="5166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Vérifiez la cohérence de votre BPU complété vs les fourchettes marché IDF 2024 revêtements. Corrigez les postes signalés.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132320" y="4873752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D4E3FC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132320" y="487375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⏱  5 min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84048" y="5852160"/>
            <a:ext cx="8375904" cy="384048"/>
          </a:xfrm>
          <a:prstGeom prst="roundRect">
            <a:avLst>
              <a:gd name="adj" fmla="val 14286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🎯  Objectif : produire un BPU structuré de l'AO LSR prêt à compléter — en moins de 20 minutes avec l'IA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Méthodologie chiffrage IA — Règles d'or &amp; erreurs à éviter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675120" y="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4 / LSR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20040" y="1051560"/>
            <a:ext cx="4251960" cy="5212080"/>
          </a:xfrm>
          <a:prstGeom prst="roundRect">
            <a:avLst>
              <a:gd name="adj" fmla="val 1720"/>
            </a:avLst>
          </a:prstGeom>
          <a:solidFill>
            <a:srgbClr val="F4F6F9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11556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⭐  Les 5 règles d'or du chiffrage IA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11480" y="1572768"/>
            <a:ext cx="329184" cy="329184"/>
          </a:xfrm>
          <a:prstGeom prst="ellipse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572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15727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Toujours partir du CCTP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181965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L'IA lit et structure — vous validez. Ne jamais chiffrer sans relire le CCTP entier.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1480" y="2340864"/>
            <a:ext cx="329184" cy="329184"/>
          </a:xfrm>
          <a:prstGeom prst="ellipse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23408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234086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Vérifier les ratios terrain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22960" y="258775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ratios IA (BATIPRIX) sont des bases. Ajustez selon vos cadences réelles LSR.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11480" y="3108960"/>
            <a:ext cx="329184" cy="329184"/>
          </a:xfrm>
          <a:prstGeom prst="ellipse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3108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310896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Appliquer les coefficients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22960" y="335584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+15% site occupé  |  +20% délais serrés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+10% accès difficile  |  +5% hiver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3877056"/>
            <a:ext cx="329184" cy="329184"/>
          </a:xfrm>
          <a:prstGeom prst="ellipse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3877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2960" y="387705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Intégrer le coût de réponse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2960" y="412394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Comptez le temps passé sur l'AO dans votre marge. Règle des 3% minimum.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11480" y="4645152"/>
            <a:ext cx="329184" cy="329184"/>
          </a:xfrm>
          <a:prstGeom prst="ellipse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46451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22960" y="46451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Toujours croiser avec Prompt 20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22960" y="48920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Contrôle prix/m² obligatoire avant dépôt. Écart &gt; 20% = révision impérative.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709160" y="1051560"/>
            <a:ext cx="4114800" cy="3017520"/>
          </a:xfrm>
          <a:prstGeom prst="roundRect">
            <a:avLst>
              <a:gd name="adj" fmla="val 2424"/>
            </a:avLst>
          </a:prstGeom>
          <a:solidFill>
            <a:srgbClr val="FFF0F0"/>
          </a:solidFill>
          <a:ln w="12700">
            <a:solidFill>
              <a:srgbClr val="F5BFB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11155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✗  Erreurs fréquentes à éviter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800600" y="15087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✗  Oublier la préparation des supports (ragréage, primaire)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800600" y="18928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✗  Ne pas majorer les prix en site occupé (bureaux, commerces)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00600" y="227685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✗  Copier les ratios d'un ancien BPU LSR sans vérifier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800600" y="26609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✗  Omettre les plinthes, joints et travaux de finition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800600" y="30449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✗  Ne pas prévoir la marge pour aléas (min. 5%)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00600" y="3429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✗  Déposer sans avoir fait le Prompt 20 de contrôle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709160" y="4187952"/>
            <a:ext cx="4114800" cy="2075688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9050">
            <a:solidFill>
              <a:srgbClr val="D4E3F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00600" y="4251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📊  Fourchettes prix/m² IDF 2024 — Repères revêtements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800600" y="4663440"/>
            <a:ext cx="2651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Préparation / ragréage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452360" y="4663440"/>
            <a:ext cx="12984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– 22 €/m²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800600" y="4946904"/>
            <a:ext cx="2651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Carrelage grès standard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452360" y="4946904"/>
            <a:ext cx="12984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55 – 95 €/m²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800600" y="5230368"/>
            <a:ext cx="2651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Résine époxy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452360" y="5230368"/>
            <a:ext cx="12984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35 – 75 €/m²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800600" y="5513832"/>
            <a:ext cx="2651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Parquet contrecollé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452360" y="5513832"/>
            <a:ext cx="12984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 – 110 €/m²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800600" y="5797296"/>
            <a:ext cx="2651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Faïence murale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452360" y="5797296"/>
            <a:ext cx="12984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65 – 120 €/m²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Récapitulatif Module 4 — Ce que vous repartez avec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675120" y="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4 / LSR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4114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9050">
            <a:solidFill>
              <a:srgbClr val="D4E3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43000"/>
            <a:ext cx="45720" cy="242316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2344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📋  Prompt 17 — Extraction CCTP revêtements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Tous les ouvrages par lot (sols / murs / étanchéité)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12140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Unités de mesure standardisées (m², ml, u)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551176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Postes ambigus et incomplets signalés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980944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Résultat en 2 minutes avec Claude AI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1143000"/>
            <a:ext cx="4114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9050">
            <a:solidFill>
              <a:srgbClr val="D4E3F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1143000"/>
            <a:ext cx="45720" cy="242316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12344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📊  Prompt 18 — Structure BPU LSR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846320" y="1691640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BPU structuré prêt à coller dans Excel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46320" y="212140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Numérotation hiérarchique par lot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46320" y="2551176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Sous-totaux + total général automatiques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46320" y="2980944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Colonne Observations pour variantes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" y="3749040"/>
            <a:ext cx="4114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9050">
            <a:solidFill>
              <a:srgbClr val="D4E3F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0040" y="3749040"/>
            <a:ext cx="45720" cy="242316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8404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⏱  Prompt 19 — Ratios temps unitaires IDF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4297680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Ratios h/m² par ouvrage revêtements IDF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472744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Fourchettes basse/haute selon difficulté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5157216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Coefficients +15-25% site occupé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5586984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Alertes postes à risque ou sous-évalués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09160" y="3749040"/>
            <a:ext cx="4114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9050">
            <a:solidFill>
              <a:srgbClr val="D4E3F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09160" y="3749040"/>
            <a:ext cx="45720" cy="242316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0" y="38404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 Prompt 20 — Contrôle cohérence prix/m²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846320" y="4297680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Diagnostic vs marché IDF 2024 revêtements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46320" y="472744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Postes atypiques trop hauts ou trop bas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46320" y="5157216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Liste risques de marge sous-évalués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846320" y="5586984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Recommandations avant dépôt de l'offre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06 95 66 18 18  •  contact@laureolivie.fr  •  www.laureolivie.fr  •  Qualiopi | OPCO Constructys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IA BTP — Module 4 — Aide au Chiffrage &amp; Rentabilité — LSR</dc:title>
  <dc:subject>PptxGenJS Presentation</dc:subject>
  <dc:creator>PptxGenJS</dc:creator>
  <cp:lastModifiedBy>PptxGenJS</cp:lastModifiedBy>
  <cp:revision>1</cp:revision>
  <dcterms:created xsi:type="dcterms:W3CDTF">2026-04-03T17:48:56Z</dcterms:created>
  <dcterms:modified xsi:type="dcterms:W3CDTF">2026-04-03T17:48:56Z</dcterms:modified>
</cp:coreProperties>
</file>